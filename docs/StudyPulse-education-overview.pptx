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85800"/>
            <a:ext cx="2423160" cy="347472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2423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14B8A6"/>
                </a:solidFill>
                <a:latin typeface="Microsoft YaHei"/>
              </a:defRPr>
            </a:pPr>
            <a:r>
              <a:t>本地优先 · AI 辅助 · 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6217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4200" b="1">
                <a:solidFill>
                  <a:srgbClr val="1F2937"/>
                </a:solidFill>
                <a:latin typeface="Microsoft YaHei"/>
              </a:defRPr>
            </a:pPr>
            <a:r>
              <a:t>StudyPulse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76272"/>
            <a:ext cx="6583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 b="0">
                <a:solidFill>
                  <a:srgbClr val="475569"/>
                </a:solidFill>
                <a:latin typeface="Microsoft YaHei"/>
              </a:defRPr>
            </a:pPr>
            <a:r>
              <a:t>一个把学习记录、任务、日程、ActivityWatch 和 AI 规划连接起来的本地学习工作台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960120"/>
            <a:ext cx="361188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0688" y="1124712"/>
            <a:ext cx="320954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适合教学的切入点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0688" y="1490472"/>
            <a:ext cx="3209544" cy="3776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从一个真实小项目理解：</a:t>
            </a:r>
            <a:br/>
            <a:br/>
            <a:r>
              <a:t>1. 如何定义学习数据模型</a:t>
            </a:r>
            <a:br/>
            <a:r>
              <a:t>2. 如何设计本地优先架构</a:t>
            </a:r>
            <a:br/>
            <a:r>
              <a:t>3. AI 如何从“聊天”进入“工作流”</a:t>
            </a:r>
            <a:br/>
            <a:r>
              <a:t>4. 怎样形成记录、总结、规划、执行的闭环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32918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教育介绍版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这份 PPT 讲什么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99669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用项目作为案例，讲清楚需求、架构、数据流和 AI 方案。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51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47548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901952"/>
            <a:ext cx="59436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5943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2563E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92808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问题背景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58568"/>
            <a:ext cx="33375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学习过程数据分散，复盘和计划依赖记忆。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91640"/>
            <a:ext cx="47548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901952"/>
            <a:ext cx="59436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5943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2563E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892808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核心方案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258568"/>
            <a:ext cx="33375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把人写的记录、机器采集的数据和 AI 建议组织成闭环。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66160"/>
            <a:ext cx="47548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1560" y="3776472"/>
            <a:ext cx="59436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840480"/>
            <a:ext cx="5943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2563E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67328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系统构成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133087"/>
            <a:ext cx="33375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React + FastAPI + SQLite + ActivityWatch + AI Provider + MCP。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566160"/>
            <a:ext cx="47548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3776472"/>
            <a:ext cx="59436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840480"/>
            <a:ext cx="5943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2563E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767328"/>
            <a:ext cx="3291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t>教学价值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133087"/>
            <a:ext cx="33375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适合讲本地优先、AI 工作流、隐私控制和渐进式产品演进。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StudyPulse · 本地优先学习工作台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55664"/>
            <a:ext cx="365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问题：学习发生了，但证据分散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99669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学习管理的难点不只是“没有计划”，而是缺少可复盘的数据上下文。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51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331720" cy="214884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93392"/>
            <a:ext cx="192938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电脑使用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359152"/>
            <a:ext cx="1929384" cy="1490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ActivityWatch 记录了应用和窗口，但不理解学习目标。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331720" cy="2148840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7328" y="1993392"/>
            <a:ext cx="192938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学习笔记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359152"/>
            <a:ext cx="1929384" cy="1490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日志里有思考和问题，但通常和任务、时间安排分离。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828800"/>
            <a:ext cx="2331720" cy="214884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7" y="1993392"/>
            <a:ext cx="192938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6A34A"/>
                </a:solidFill>
                <a:latin typeface="Microsoft YaHei"/>
              </a:defRPr>
            </a:pPr>
            <a:r>
              <a:t>任务清单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7" y="2359152"/>
            <a:ext cx="1929384" cy="1490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任务能提醒执行，却很难自动反映完成后的学习收获。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999" y="1828800"/>
            <a:ext cx="2331720" cy="214884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5167" y="1993392"/>
            <a:ext cx="192938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D97706"/>
                </a:solidFill>
                <a:latin typeface="Microsoft YaHei"/>
              </a:defRPr>
            </a:pPr>
            <a:r>
              <a:t>AI 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7" y="2359152"/>
            <a:ext cx="1929384" cy="1490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AI 能给建议，但如果没有长期上下文，建议容易泛化。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83480"/>
            <a:ext cx="9966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Microsoft YaHei"/>
              </a:defRPr>
            </a:pPr>
            <a:r>
              <a:t>设计目标：让数据进入同一个“每日学习记录”，再让 AI 基于记录做总结与规划。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StudyPulse · 本地优先学习工作台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55664"/>
            <a:ext cx="365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核心思路：建立一个学习闭环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99669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StudyPulse 的价值不在单个页面，而在“记录 → 理解 → 计划 → 执行”的循环。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51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16002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13432"/>
            <a:ext cx="119786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79192"/>
            <a:ext cx="119786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日志、日程、任务、电脑使用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59152" y="2834640"/>
            <a:ext cx="493776" cy="0"/>
          </a:xfrm>
          <a:prstGeom prst="line">
            <a:avLst/>
          </a:prstGeom>
          <a:ln w="2032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2148840"/>
            <a:ext cx="16002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2313432"/>
            <a:ext cx="119786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聚合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679192"/>
            <a:ext cx="119786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按日期形成 Day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99432" y="2834640"/>
            <a:ext cx="493776" cy="0"/>
          </a:xfrm>
          <a:prstGeom prst="line">
            <a:avLst/>
          </a:prstGeom>
          <a:ln w="2032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12080" y="2148840"/>
            <a:ext cx="16002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3248" y="2313432"/>
            <a:ext cx="119786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679192"/>
            <a:ext cx="119786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AI 总结亮点、阻碍、建议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39712" y="2834640"/>
            <a:ext cx="493776" cy="0"/>
          </a:xfrm>
          <a:prstGeom prst="line">
            <a:avLst/>
          </a:prstGeom>
          <a:ln w="2032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52360" y="2148840"/>
            <a:ext cx="16002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2313432"/>
            <a:ext cx="119786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679192"/>
            <a:ext cx="119786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AI 基于目标和历史给出计划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79992" y="2834640"/>
            <a:ext cx="493776" cy="0"/>
          </a:xfrm>
          <a:prstGeom prst="line">
            <a:avLst/>
          </a:prstGeom>
          <a:ln w="2032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92640" y="2148840"/>
            <a:ext cx="160020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3808" y="2313432"/>
            <a:ext cx="119786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确认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8" y="2679192"/>
            <a:ext cx="1197864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用户选择任务，写回本地数据库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1042416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1F2937"/>
                </a:solidFill>
                <a:latin typeface="Microsoft YaHei"/>
              </a:defRPr>
            </a:pPr>
            <a:r>
              <a:t>关键取舍：AI 不直接替你决定，而是提出建议；用户确认后才写入任务。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StudyPulse · 本地优先学习工作台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55664"/>
            <a:ext cx="365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系统架构：本地优先的分层设计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99669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前端负责交互，后端负责聚合与业务逻辑，SQLite 保存本地数据，AI 和 ActivityWatch 都是可替换外部能力。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51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194560" cy="91440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039112"/>
            <a:ext cx="179222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React / Vite 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04872"/>
            <a:ext cx="179222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Today、Schedule、Tasks、Goals、Journal、AI 页面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00200"/>
            <a:ext cx="23317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4487" y="1764792"/>
            <a:ext cx="192938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FastAPI 后端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7" y="2130552"/>
            <a:ext cx="192938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REST API</a:t>
            </a:r>
            <a:br/>
            <a:r>
              <a:t>数据聚合</a:t>
            </a:r>
            <a:br/>
            <a:r>
              <a:t>迁移与运行控制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097280"/>
            <a:ext cx="1965960" cy="100584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3448" y="1261872"/>
            <a:ext cx="156362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6A34A"/>
                </a:solidFill>
                <a:latin typeface="Microsoft YaHei"/>
              </a:defRPr>
            </a:pPr>
            <a:r>
              <a:t>SQLite 本地库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1627631"/>
            <a:ext cx="1563624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日志、任务、日程、目标、AI 总结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834640"/>
            <a:ext cx="1965960" cy="100584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3448" y="2999232"/>
            <a:ext cx="156362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D97706"/>
                </a:solidFill>
                <a:latin typeface="Microsoft YaHei"/>
              </a:defRPr>
            </a:pPr>
            <a:r>
              <a:t>ActivityWatch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3364992"/>
            <a:ext cx="1563624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本机应用与窗口使用时长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508760"/>
            <a:ext cx="1828800" cy="1143000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673351"/>
            <a:ext cx="142646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AI Provider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648" y="2039112"/>
            <a:ext cx="1426464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Mock / OpenAI兼容 / DeepSeek / Ollama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3246120"/>
            <a:ext cx="1828800" cy="1005840"/>
          </a:xfrm>
          <a:prstGeom prst="roundRect">
            <a:avLst/>
          </a:prstGeom>
          <a:solidFill>
            <a:srgbClr val="FFE4E6"/>
          </a:solidFill>
          <a:ln w="1016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3410712"/>
            <a:ext cx="142646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E11D48"/>
                </a:solidFill>
                <a:latin typeface="Microsoft YaHei"/>
              </a:defRPr>
            </a:pPr>
            <a:r>
              <a:t>MCP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8" y="3776472"/>
            <a:ext cx="1426464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外部 AI 客户端读写学习数据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26080" y="2331720"/>
            <a:ext cx="749807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053328" y="1627632"/>
            <a:ext cx="731520" cy="521208"/>
          </a:xfrm>
          <a:prstGeom prst="line">
            <a:avLst/>
          </a:prstGeom>
          <a:ln w="2032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6053328" y="2423160"/>
            <a:ext cx="731520" cy="886968"/>
          </a:xfrm>
          <a:prstGeom prst="line">
            <a:avLst/>
          </a:prstGeom>
          <a:ln w="2032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53328" y="2057400"/>
            <a:ext cx="3474720" cy="27431"/>
          </a:xfrm>
          <a:prstGeom prst="line">
            <a:avLst/>
          </a:prstGeom>
          <a:ln w="2032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6053328" y="2606040"/>
            <a:ext cx="3474720" cy="1142999"/>
          </a:xfrm>
          <a:prstGeom prst="line">
            <a:avLst/>
          </a:prstGeom>
          <a:ln w="2032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473952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StudyPulse · 本地优先学习工作台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55664"/>
            <a:ext cx="365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数据组织：围绕“某一天”聚合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99669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Day Record 是教学时最值得讲的抽象：它把不同来源的数据变成 AI 可以理解的上下文。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51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21488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719072"/>
            <a:ext cx="174650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Journal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664207"/>
            <a:ext cx="2468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64748B"/>
                </a:solidFill>
                <a:latin typeface="Microsoft YaHei"/>
              </a:defRPr>
            </a:pPr>
            <a:r>
              <a:t>Markdown 学习日志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1810512"/>
            <a:ext cx="2468880" cy="1316736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68680" y="2304288"/>
            <a:ext cx="21488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68880"/>
            <a:ext cx="174650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14016"/>
            <a:ext cx="2468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64748B"/>
                </a:solidFill>
                <a:latin typeface="Microsoft YaHei"/>
              </a:defRPr>
            </a:pPr>
            <a:r>
              <a:t>按日期归属的任务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2560320"/>
            <a:ext cx="2468880" cy="566928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" y="3054096"/>
            <a:ext cx="21488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218688"/>
            <a:ext cx="174650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163824"/>
            <a:ext cx="2468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64748B"/>
                </a:solidFill>
                <a:latin typeface="Microsoft YaHei"/>
              </a:defRPr>
            </a:pPr>
            <a:r>
              <a:t>当天时间块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017520" y="3127248"/>
            <a:ext cx="2468880" cy="182880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" y="3803904"/>
            <a:ext cx="21488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968496"/>
            <a:ext cx="174650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913632"/>
            <a:ext cx="2468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64748B"/>
                </a:solidFill>
                <a:latin typeface="Microsoft YaHei"/>
              </a:defRPr>
            </a:pPr>
            <a:r>
              <a:t>应用/窗口使用统计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017520" y="3127248"/>
            <a:ext cx="2468880" cy="932688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8680" y="4553712"/>
            <a:ext cx="21488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718303"/>
            <a:ext cx="174650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F2937"/>
                </a:solidFill>
                <a:latin typeface="Microsoft YaHei"/>
              </a:defRPr>
            </a:pPr>
            <a:r>
              <a:t>Summaries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663440"/>
            <a:ext cx="2468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50" b="0">
                <a:solidFill>
                  <a:srgbClr val="64748B"/>
                </a:solidFill>
                <a:latin typeface="Microsoft YaHei"/>
              </a:defRPr>
            </a:pPr>
            <a:r>
              <a:t>AI 总结历史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017520" y="3127248"/>
            <a:ext cx="2468880" cy="1682496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532120" y="2395728"/>
            <a:ext cx="2103120" cy="1417320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3288" y="2560320"/>
            <a:ext cx="170078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Day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3288" y="2926080"/>
            <a:ext cx="170078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按日期聚合后的学习上下文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7635240" y="2423160"/>
            <a:ext cx="1508760" cy="704088"/>
          </a:xfrm>
          <a:prstGeom prst="line">
            <a:avLst/>
          </a:prstGeom>
          <a:ln w="2032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35240" y="3127248"/>
            <a:ext cx="1508760" cy="576072"/>
          </a:xfrm>
          <a:prstGeom prst="line">
            <a:avLst/>
          </a:prstGeom>
          <a:ln w="2032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89720" y="1874519"/>
            <a:ext cx="1965960" cy="91440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0888" y="2039112"/>
            <a:ext cx="156362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AI Summary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2404872"/>
            <a:ext cx="156362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评分、亮点、阻碍、建议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3246120"/>
            <a:ext cx="1965960" cy="91440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0888" y="3410712"/>
            <a:ext cx="156362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6A34A"/>
                </a:solidFill>
                <a:latin typeface="Microsoft YaHei"/>
              </a:defRPr>
            </a:pPr>
            <a:r>
              <a:t>AI Planning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3776472"/>
            <a:ext cx="156362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今日计划、推荐任务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StudyPulse · 本地优先学习工作台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55664"/>
            <a:ext cx="365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AI 工作流：从“回答问题”到“参与流程”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99669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这个项目适合展示 AI 应用的关键：Prompt、上下文、结构化输出、人工确认。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51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971800" cy="32461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47672"/>
            <a:ext cx="256946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输入上下文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目标与里程碑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最近 7 天记录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当天日志/任务/日程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ActivityWatch 汇总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3246120"/>
            <a:ext cx="59436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26280" y="1783080"/>
            <a:ext cx="2971800" cy="3246120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947672"/>
            <a:ext cx="256946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模型生成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37744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每日总结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今日计划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推荐任务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学习路线补全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43800" y="3246120"/>
            <a:ext cx="594360" cy="0"/>
          </a:xfrm>
          <a:prstGeom prst="line">
            <a:avLst/>
          </a:prstGeom>
          <a:ln w="2032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0" y="1783080"/>
            <a:ext cx="2971800" cy="324612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947672"/>
            <a:ext cx="256946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6A34A"/>
                </a:solidFill>
                <a:latin typeface="Microsoft YaHei"/>
              </a:defRPr>
            </a:pPr>
            <a:r>
              <a:t>人工确认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37744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勾选接受的任务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保留 plannedFor / priority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失败时提示并保留数据</a:t>
            </a:r>
          </a:p>
          <a:p>
            <a:pPr>
              <a:spcAft>
                <a:spcPts val="600"/>
              </a:spcAft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可自定义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1024128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50" b="1">
                <a:solidFill>
                  <a:srgbClr val="1F2937"/>
                </a:solidFill>
                <a:latin typeface="Microsoft YaHei"/>
              </a:defRPr>
            </a:pPr>
            <a:r>
              <a:t>教学提醒：AI 输出必须进入可验证的数据结构，不能只停留在自然语言。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StudyPulse · 本地优先学习工作台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55664"/>
            <a:ext cx="365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功能模块：每个页面服务学习闭环的一环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99669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页面不是孤立功能，而是围绕记录、目标、规划、执行、复盘组织。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51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810512"/>
            <a:ext cx="192938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76272"/>
            <a:ext cx="1929384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查看今日使用概览和运行状态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7328" y="1810512"/>
            <a:ext cx="192938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Schedule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176272"/>
            <a:ext cx="1929384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按日期查看完整学习日常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4592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810512"/>
            <a:ext cx="192938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176272"/>
            <a:ext cx="1929384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创建、完成、删除日期任务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64592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8048" y="1810512"/>
            <a:ext cx="192938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Goals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48" y="2176272"/>
            <a:ext cx="1929384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目标、里程碑、AI 补全路线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7472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639312"/>
            <a:ext cx="192938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Journal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005072"/>
            <a:ext cx="1929384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Markdown 学习日志编辑/预览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47472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67328" y="3639312"/>
            <a:ext cx="192938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AI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7328" y="4005072"/>
            <a:ext cx="1929384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生成结构化复盘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47472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3639312"/>
            <a:ext cx="192938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AI 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4005072"/>
            <a:ext cx="1929384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基于目标和历史生成计划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3474720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8048" y="3639312"/>
            <a:ext cx="192938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Settings / AI Config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4005072"/>
            <a:ext cx="1929384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连接配置、Prompt、隐私开关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StudyPulse · 本地优先学习工作台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55664"/>
            <a:ext cx="365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本地优先：隐私与可控性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99669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教育场景里，这一页可以引出“AI 产品并不等于把所有数据上传云端”。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51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063240" cy="2926080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01952"/>
            <a:ext cx="266090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6A34A"/>
                </a:solidFill>
                <a:latin typeface="Microsoft YaHei"/>
              </a:defRPr>
            </a:pPr>
            <a:r>
              <a:t>本地保存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67712"/>
            <a:ext cx="2660904" cy="22677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SQLite 数据库存储在 data/study-pulse.sqlite。日志、任务、日程、目标都默认留在本机。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063240" cy="2926080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901952"/>
            <a:ext cx="266090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可控发送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2267712"/>
            <a:ext cx="2660904" cy="22677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AI Provider 可选 mock、OpenAI 兼容、DeepSeek、Ollama；ActivityWatch 窗口标题可关闭发送。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37360"/>
            <a:ext cx="3063240" cy="292608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1901952"/>
            <a:ext cx="266090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可替换集成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267712"/>
            <a:ext cx="2660904" cy="22677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ActivityWatch、AI Provider、MCP Server 都通过边界接入，降低耦合，方便替换和扩展。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2412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1F2937"/>
                </a:solidFill>
                <a:latin typeface="Microsoft YaHei"/>
              </a:defRPr>
            </a:pPr>
            <a:r>
              <a:t>核心原则：默认本地、按需联网、用户确认、配置透明。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StudyPulse · 本地优先学习工作台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55664"/>
            <a:ext cx="365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项目演进：从骨架到 AI 学习闭环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99669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这条演进线适合用来讲敏捷迭代：每个版本都补齐一个关键能力。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51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82296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21408"/>
            <a:ext cx="822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2563EB"/>
                </a:solidFill>
                <a:latin typeface="Microsoft YaHei"/>
              </a:defRPr>
            </a:pPr>
            <a:r>
              <a:t>v0.1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27048" y="2231136"/>
            <a:ext cx="640080" cy="0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2697480"/>
            <a:ext cx="12801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本地可运行骨架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057400"/>
            <a:ext cx="82296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121408"/>
            <a:ext cx="822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2563EB"/>
                </a:solidFill>
                <a:latin typeface="Microsoft YaHei"/>
              </a:defRPr>
            </a:pPr>
            <a:r>
              <a:t>v0.2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27248" y="2231136"/>
            <a:ext cx="640080" cy="0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94560" y="2697480"/>
            <a:ext cx="12801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ActivityWatch 聚合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057400"/>
            <a:ext cx="82296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121408"/>
            <a:ext cx="822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2563EB"/>
                </a:solidFill>
                <a:latin typeface="Microsoft YaHei"/>
              </a:defRPr>
            </a:pPr>
            <a:r>
              <a:t>v0.3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27448" y="2231136"/>
            <a:ext cx="640080" cy="0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94760" y="2697480"/>
            <a:ext cx="12801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日志、任务、日程、SQLite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2057400"/>
            <a:ext cx="82296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2121408"/>
            <a:ext cx="822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2563EB"/>
                </a:solidFill>
                <a:latin typeface="Microsoft YaHei"/>
              </a:defRPr>
            </a:pPr>
            <a:r>
              <a:t>v0.4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27648" y="2231136"/>
            <a:ext cx="640080" cy="0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94960" y="2697480"/>
            <a:ext cx="12801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AI 总结与次日计划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2057400"/>
            <a:ext cx="82296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2121408"/>
            <a:ext cx="822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2563EB"/>
                </a:solidFill>
                <a:latin typeface="Microsoft YaHei"/>
              </a:defRPr>
            </a:pPr>
            <a:r>
              <a:t>v0.5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27848" y="2231136"/>
            <a:ext cx="640080" cy="0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95160" y="2697480"/>
            <a:ext cx="12801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AI 规划直接创建任务，MCP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057400"/>
            <a:ext cx="82296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2121408"/>
            <a:ext cx="822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2563EB"/>
                </a:solidFill>
                <a:latin typeface="Microsoft YaHei"/>
              </a:defRPr>
            </a:pPr>
            <a:r>
              <a:t>v0.6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28048" y="2231136"/>
            <a:ext cx="640080" cy="0"/>
          </a:xfrm>
          <a:prstGeom prst="line">
            <a:avLst/>
          </a:prstGeom>
          <a:ln w="2032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595360" y="2697480"/>
            <a:ext cx="12801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确认流程、目标里程碑、日期任务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87000" y="2057400"/>
            <a:ext cx="822960" cy="347472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7000" y="2121408"/>
            <a:ext cx="8229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14B8A6"/>
                </a:solidFill>
                <a:latin typeface="Microsoft YaHei"/>
              </a:defRPr>
            </a:pPr>
            <a:r>
              <a:t>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2697480"/>
            <a:ext cx="12801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19" b="0">
                <a:solidFill>
                  <a:srgbClr val="475569"/>
                </a:solidFill>
                <a:latin typeface="Microsoft YaHei"/>
              </a:defRPr>
            </a:pPr>
            <a:r>
              <a:t>Markdown 日志、双 Prompt、迁移加固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" y="4709160"/>
            <a:ext cx="99669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1288" y="4873752"/>
            <a:ext cx="956462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" y="5239512"/>
            <a:ext cx="956462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周复盘、日历视图、周/月报告、任务依赖、开源文档与安装体验打磨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StudyPulse · 本地优先学习工作台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55664"/>
            <a:ext cx="365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怎么用于教学：一节课的讲法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99669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建议把它讲成“从需求到系统设计”的案例，而不是单纯演示页面。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51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1051560" cy="34747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51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D97706"/>
                </a:solidFill>
                <a:latin typeface="Microsoft YaHei"/>
              </a:defRPr>
            </a:pPr>
            <a:r>
              <a:t>10 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54480"/>
            <a:ext cx="2011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痛点与目标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563624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学习记录为何需要被结构化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13432"/>
            <a:ext cx="1051560" cy="34747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39"/>
            <a:ext cx="1051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D97706"/>
                </a:solidFill>
                <a:latin typeface="Microsoft YaHei"/>
              </a:defRPr>
            </a:pPr>
            <a:r>
              <a:t>15 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359151"/>
            <a:ext cx="2011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架构拆解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68296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前端、后端、数据库、外部服务边界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18104"/>
            <a:ext cx="1051560" cy="34747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051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D97706"/>
                </a:solidFill>
                <a:latin typeface="Microsoft YaHei"/>
              </a:defRPr>
            </a:pPr>
            <a:r>
              <a:t>15 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163824"/>
            <a:ext cx="2011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数据流推演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172968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Day Record 如何喂给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22776"/>
            <a:ext cx="1051560" cy="34747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86784"/>
            <a:ext cx="1051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D97706"/>
                </a:solidFill>
                <a:latin typeface="Microsoft YaHei"/>
              </a:defRPr>
            </a:pPr>
            <a:r>
              <a:t>10 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968496"/>
            <a:ext cx="2011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AI 方案讨论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977639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Prompt、结构化输出、人工确认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27448"/>
            <a:ext cx="1051560" cy="34747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91456"/>
            <a:ext cx="1051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80" b="1">
                <a:solidFill>
                  <a:srgbClr val="D97706"/>
                </a:solidFill>
                <a:latin typeface="Microsoft YaHei"/>
              </a:defRPr>
            </a:pPr>
            <a:r>
              <a:t>10 分钟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773168"/>
            <a:ext cx="2011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1F2937"/>
                </a:solidFill>
                <a:latin typeface="Microsoft YaHei"/>
              </a:defRPr>
            </a:pPr>
            <a:r>
              <a:t>扩展练习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782312"/>
            <a:ext cx="5029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让学生设计周报或日历模块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StudyPulse · 本地优先学习工作台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55664"/>
            <a:ext cx="365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500" b="1">
                <a:solidFill>
                  <a:srgbClr val="1F2937"/>
                </a:solidFill>
                <a:latin typeface="Microsoft YaHei"/>
              </a:defRPr>
            </a:pPr>
            <a:r>
              <a:t>结论：StudyPulse 的方案价值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0976"/>
            <a:ext cx="99669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它把 AI 放进学习管理流程，而不是把学习管理变成一次性聊天。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5156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4434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856232"/>
            <a:ext cx="4032503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产品价值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221992"/>
            <a:ext cx="4032503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把学习数据沉淀成可复盘的长期记录。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91640"/>
            <a:ext cx="4434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7" y="1856232"/>
            <a:ext cx="4032503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技术价值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7" y="2221992"/>
            <a:ext cx="4032503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展示本地优先、分层架构、外部服务集成和数据库迁移。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4434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364992"/>
            <a:ext cx="4032503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AI 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730752"/>
            <a:ext cx="4032503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通过上下文、Prompt、结构化输出和人工确认形成可靠流程。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200400"/>
            <a:ext cx="4434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7" y="3364992"/>
            <a:ext cx="4032503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1">
                <a:solidFill>
                  <a:srgbClr val="14B8A6"/>
                </a:solidFill>
                <a:latin typeface="Microsoft YaHei"/>
              </a:defRPr>
            </a:pPr>
            <a:r>
              <a:t>教育价值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7" y="3730752"/>
            <a:ext cx="4032503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475569"/>
                </a:solidFill>
                <a:latin typeface="Microsoft YaHei"/>
              </a:defRPr>
            </a:pPr>
            <a:r>
              <a:t>适合讲“AI 应用如何从想法走到系统”。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440680"/>
            <a:ext cx="97840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1">
                <a:solidFill>
                  <a:srgbClr val="1F2937"/>
                </a:solidFill>
                <a:latin typeface="Microsoft YaHei"/>
              </a:defRPr>
            </a:pPr>
            <a:r>
              <a:t>推荐定位：AI 辅助学习系统的教学案例与本地优先应用原型。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StudyPulse · 本地优先学习工作台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55664"/>
            <a:ext cx="3657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