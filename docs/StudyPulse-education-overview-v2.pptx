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A252E"/>
          </a:solidFill>
          <a:ln w="12700">
            <a:solidFill>
              <a:srgbClr val="1A25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822960"/>
            <a:ext cx="2743200" cy="2743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4480560"/>
            <a:ext cx="1737360" cy="1737360"/>
          </a:xfrm>
          <a:prstGeom prst="ellipse">
            <a:avLst/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713232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786384"/>
            <a:ext cx="21031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23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LOCAL-FIRST LEARNING OS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53949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8463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00" dirty="0">
                <a:solidFill>
                  <a:srgbClr val="DCE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把学习记录、任务、日程与 AI 规划</a:t>
            </a:r>
            <a:endParaRPr lang="en-US" sz="1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900" dirty="0">
                <a:solidFill>
                  <a:srgbClr val="DCE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组织成可复盘的学习闭环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12280" y="1325880"/>
            <a:ext cx="4023360" cy="3611880"/>
          </a:xfrm>
          <a:prstGeom prst="roundRect">
            <a:avLst>
              <a:gd name="adj" fmla="val 2025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8040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97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086600" y="244144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732520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8641080" y="244144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本地数据库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7804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5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086600" y="381304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关键动作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73252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8641080" y="381304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教学讲述页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" y="6080760"/>
            <a:ext cx="4389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新版视觉稿 · 用于和 v1 对比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一条讲课主线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 PPT 更像课堂讲稿：先讲为什么，再讲系统怎样把数据和 AI 变成学习闭环。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98448" y="1920240"/>
            <a:ext cx="566928" cy="566928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2075688"/>
            <a:ext cx="56692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20240" y="2212848"/>
            <a:ext cx="960120" cy="0"/>
          </a:xfrm>
          <a:prstGeom prst="line">
            <a:avLst/>
          </a:prstGeom>
          <a:noFill/>
          <a:ln w="1524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2743200"/>
            <a:ext cx="15087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743200"/>
            <a:ext cx="73152" cy="1234440"/>
          </a:xfrm>
          <a:prstGeom prst="rect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944368"/>
            <a:ext cx="1097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学习证据分散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42416" y="3337560"/>
            <a:ext cx="109728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从真实学习困境进入系统设计。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11296" y="1920240"/>
            <a:ext cx="566928" cy="5669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2075688"/>
            <a:ext cx="56692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33088" y="2212848"/>
            <a:ext cx="960120" cy="0"/>
          </a:xfrm>
          <a:prstGeom prst="line">
            <a:avLst/>
          </a:prstGeom>
          <a:noFill/>
          <a:ln w="1524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35808" y="2743200"/>
            <a:ext cx="15087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35808" y="2743200"/>
            <a:ext cx="73152" cy="1234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2944368"/>
            <a:ext cx="1097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本地学习工作台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255264" y="3337560"/>
            <a:ext cx="109728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把抽象概念落到项目模块。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24144" y="192024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24144" y="2075688"/>
            <a:ext cx="56692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45936" y="2212848"/>
            <a:ext cx="960120" cy="0"/>
          </a:xfrm>
          <a:prstGeom prst="line">
            <a:avLst/>
          </a:prstGeom>
          <a:noFill/>
          <a:ln w="1524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248656" y="2743200"/>
            <a:ext cx="15087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48656" y="274320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2944368"/>
            <a:ext cx="1097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分层架构和 Day Record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68112" y="3337560"/>
            <a:ext cx="109728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把抽象概念落到项目模块。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36992" y="1920240"/>
            <a:ext cx="566928" cy="566928"/>
          </a:xfrm>
          <a:prstGeom prst="ellipse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36992" y="2075688"/>
            <a:ext cx="56692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58784" y="2212848"/>
            <a:ext cx="960120" cy="0"/>
          </a:xfrm>
          <a:prstGeom prst="line">
            <a:avLst/>
          </a:prstGeom>
          <a:noFill/>
          <a:ln w="1524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61504" y="2743200"/>
            <a:ext cx="15087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61504" y="2743200"/>
            <a:ext cx="73152" cy="1234440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944368"/>
            <a:ext cx="1097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总结、规划、确认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680960" y="3337560"/>
            <a:ext cx="109728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把抽象概念落到项目模块。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149840" y="1920240"/>
            <a:ext cx="566928" cy="566928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0" y="2075688"/>
            <a:ext cx="56692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674352" y="2743200"/>
            <a:ext cx="15087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674352" y="2743200"/>
            <a:ext cx="73152" cy="123444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93808" y="2944368"/>
            <a:ext cx="1097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教学与扩展练习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893808" y="3337560"/>
            <a:ext cx="109728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把项目变成可讨论、可练习的案例。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· AI 辅助学习系统案例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0140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问题不是没有 AI，而是 AI 缺上下文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如果学习数据各自散落，AI 只能给泛化建议；StudyPulse 的起点是把证据组织起来。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4846320" cy="3611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1691640"/>
            <a:ext cx="4846320" cy="3611880"/>
          </a:xfrm>
          <a:prstGeom prst="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97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常见状态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1228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的状态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788920"/>
            <a:ext cx="3474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日志在一个地方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188720" y="3200400"/>
            <a:ext cx="3474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任务在另一个地方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188720" y="3611880"/>
            <a:ext cx="3474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电脑使用记录单独存在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188720" y="4023360"/>
            <a:ext cx="3474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对话没有长期记忆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858000" y="2788920"/>
            <a:ext cx="3566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按日期聚合为 Day Record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858000" y="3200400"/>
            <a:ext cx="3566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目标、任务、日程互相关联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858000" y="3611880"/>
            <a:ext cx="3566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ActivityWatch 变成学习证据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858000" y="4023360"/>
            <a:ext cx="3566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基于上下文生成建议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520440"/>
            <a:ext cx="411480" cy="0"/>
          </a:xfrm>
          <a:prstGeom prst="line">
            <a:avLst/>
          </a:prstGeom>
          <a:noFill/>
          <a:ln w="27940">
            <a:solidFill>
              <a:srgbClr val="17202A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· AI 辅助学习系统案例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0140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产品概念：学习数据的本地控制台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它不是单独的待办、日志或 AI 聊天，而是一个把学习过程汇总成可用上下文的控制台。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789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0574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227685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64792" y="2258568"/>
            <a:ext cx="113385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99032" y="2679192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日志、日程、任务、ActivityWatch、目标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657600" y="20574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58768" y="2276856"/>
            <a:ext cx="310896" cy="31089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2258568"/>
            <a:ext cx="113385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913632" y="2679192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本地保存</a:t>
            </a:r>
            <a:endParaRPr lang="en-US" sz="94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Record 聚合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172200" y="20574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73368" y="2276856"/>
            <a:ext cx="310896" cy="310896"/>
          </a:xfrm>
          <a:prstGeom prst="ellipse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3992" y="2258568"/>
            <a:ext cx="113385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28232" y="2679192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总结</a:t>
            </a:r>
            <a:endParaRPr lang="en-US" sz="94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发现亮点与阻碍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686800" y="20574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DFF7EA"/>
          </a:solidFill>
          <a:ln w="12700">
            <a:solidFill>
              <a:srgbClr val="DFF7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87968" y="2276856"/>
            <a:ext cx="310896" cy="310896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2258568"/>
            <a:ext cx="113385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942832" y="2679192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规划</a:t>
            </a:r>
            <a:endParaRPr lang="en-US" sz="94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用户确认后写入任务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3154680" y="2542032"/>
            <a:ext cx="393192" cy="0"/>
          </a:xfrm>
          <a:prstGeom prst="line">
            <a:avLst/>
          </a:prstGeom>
          <a:noFill/>
          <a:ln w="1778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69280" y="2542032"/>
            <a:ext cx="393192" cy="0"/>
          </a:xfrm>
          <a:prstGeom prst="line">
            <a:avLst/>
          </a:prstGeom>
          <a:noFill/>
          <a:ln w="1778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83880" y="2542032"/>
            <a:ext cx="393192" cy="0"/>
          </a:xfrm>
          <a:prstGeom prst="line">
            <a:avLst/>
          </a:prstGeom>
          <a:noFill/>
          <a:ln w="1778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234440" y="4160520"/>
            <a:ext cx="12801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97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一句话方案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4114800"/>
            <a:ext cx="5943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让学习的每一天都能被记录、理解、规划和继续推进。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· AI 辅助学习系统案例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0140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架构视角：清晰边界比功能堆叠更重要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教学时可以用这页讲分层、接口边界、可替换外部服务和本地数据所有权。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2057400" cy="356616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54680" y="1645920"/>
            <a:ext cx="22402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6440" y="1645920"/>
            <a:ext cx="2057400" cy="3566160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5320" y="1645920"/>
            <a:ext cx="3017520" cy="3566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65960"/>
            <a:ext cx="1463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前端交互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14173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/ Vite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页面导航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编辑与确认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状态反馈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56432" y="1965960"/>
            <a:ext cx="1463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业务后端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56432" y="2514600"/>
            <a:ext cx="15544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数据聚合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迁移与运行控制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08192" y="1965960"/>
            <a:ext cx="1463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22A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08192" y="2514600"/>
            <a:ext cx="13258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总结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77072" y="196596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97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外部能力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77072" y="2514600"/>
            <a:ext cx="205740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ActivityWatch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Provider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</a:t>
            </a: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endParaRPr lang="en-US" sz="1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外部能力可换，核心数据留在本地。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3429000"/>
            <a:ext cx="320040" cy="0"/>
          </a:xfrm>
          <a:prstGeom prst="line">
            <a:avLst/>
          </a:prstGeom>
          <a:noFill/>
          <a:ln w="17780">
            <a:solidFill>
              <a:srgbClr val="4B607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40680" y="3429000"/>
            <a:ext cx="320040" cy="0"/>
          </a:xfrm>
          <a:prstGeom prst="line">
            <a:avLst/>
          </a:prstGeom>
          <a:noFill/>
          <a:ln w="17780">
            <a:solidFill>
              <a:srgbClr val="4B607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09560" y="3429000"/>
            <a:ext cx="320040" cy="0"/>
          </a:xfrm>
          <a:prstGeom prst="line">
            <a:avLst/>
          </a:prstGeom>
          <a:noFill/>
          <a:ln w="17780">
            <a:solidFill>
              <a:srgbClr val="4B607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· AI 辅助学习系统案例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0140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关键抽象：Day Record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Record 把不同来源的数据压成一个“某一天发生了什么”的上下文对象。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73352"/>
            <a:ext cx="10515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2057400" y="167335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学习日志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1764792"/>
            <a:ext cx="3657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868680" y="225856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10515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2057400" y="233172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日期任务与完成状态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2423160"/>
            <a:ext cx="3657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68680" y="291693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90088"/>
            <a:ext cx="10515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2057400" y="299008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当天时间块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3081528"/>
            <a:ext cx="3657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68680" y="3575304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48456"/>
            <a:ext cx="10515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Activity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057400" y="3648456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应用与窗口使用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3739896"/>
            <a:ext cx="3657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68680" y="4233672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306824"/>
            <a:ext cx="10515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Summaries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2057400" y="4306824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AI 总结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4398264"/>
            <a:ext cx="3657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983480" y="1764792"/>
            <a:ext cx="0" cy="2633472"/>
          </a:xfrm>
          <a:prstGeom prst="line">
            <a:avLst/>
          </a:prstGeom>
          <a:noFill/>
          <a:ln w="15240">
            <a:solidFill>
              <a:srgbClr val="D8DEE6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983480" y="2852928"/>
            <a:ext cx="521208" cy="0"/>
          </a:xfrm>
          <a:prstGeom prst="line">
            <a:avLst/>
          </a:prstGeom>
          <a:noFill/>
          <a:ln w="2159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15000" y="2148840"/>
            <a:ext cx="1417320" cy="14173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16168" y="2542032"/>
            <a:ext cx="10058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23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</a:t>
            </a:r>
            <a:endParaRPr lang="en-US" sz="1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23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42048" y="2852928"/>
            <a:ext cx="1170432" cy="-704088"/>
          </a:xfrm>
          <a:prstGeom prst="line">
            <a:avLst/>
          </a:prstGeom>
          <a:noFill/>
          <a:ln w="2032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42048" y="2852928"/>
            <a:ext cx="1170432" cy="850392"/>
          </a:xfrm>
          <a:prstGeom prst="line">
            <a:avLst/>
          </a:prstGeom>
          <a:noFill/>
          <a:ln w="2032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49640" y="169164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49640" y="169164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69096" y="1892808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Summary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769096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评分、亮点、阻碍、改进建议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49640" y="324612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49640" y="3246120"/>
            <a:ext cx="73152" cy="100584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69096" y="3447288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Planning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769096" y="3840480"/>
            <a:ext cx="16459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今日计划、推荐任务、优先级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· AI 辅助学习系统案例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0140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可靠性的四个抓手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这页适合讲 AI 应用工程化：不是“接上模型”就结束，而是要控制输入、输出与写入。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29968"/>
            <a:ext cx="4389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27048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7048" y="2350008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目标、里程碑、近期记录、当天记录进入 Prompt。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438912" cy="43891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029968"/>
            <a:ext cx="4389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84848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84848" y="2350008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Prompt 和总结 Prompt 可配置，但系统补充 JSON 要求。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749040"/>
            <a:ext cx="438912" cy="438912"/>
          </a:xfrm>
          <a:prstGeom prst="ellipse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58768"/>
            <a:ext cx="4389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27048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27048" y="4178808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后端容错解析，避免自然语言结果无法落库。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438912" cy="438912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858768"/>
            <a:ext cx="43891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84848" y="4178808"/>
            <a:ext cx="3474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建议任务先展示，用户勾选后才写入。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· AI 辅助学习系统案例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0140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模块不是菜单，而是闭环里的角色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每个页面都对应学习系统中的一个动作。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3794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80136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Today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看见电脑使用概览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3511296" y="160020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12464" y="1837944"/>
            <a:ext cx="292608" cy="292608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180136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67328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写下学习过程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364224" y="160020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65392" y="1837944"/>
            <a:ext cx="292608" cy="292608"/>
          </a:xfrm>
          <a:prstGeom prst="ellipse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6016" y="180136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20256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复盘某天完整记录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9217152" y="160020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18320" y="1837944"/>
            <a:ext cx="292608" cy="292608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38944" y="180136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73184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承接计划与执行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58368" y="342900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9536" y="3666744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63016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050792"/>
            <a:ext cx="1783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长期方向与里程碑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3511296" y="342900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12464" y="366674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363016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Summary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67328" y="4050792"/>
            <a:ext cx="1783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把一天变成反思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364224" y="342900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65392" y="3666744"/>
            <a:ext cx="292608" cy="292608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86016" y="363016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Planning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20256" y="4050792"/>
            <a:ext cx="1783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把反思变成计划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9217152" y="342900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18320" y="3666744"/>
            <a:ext cx="292608" cy="292608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38944" y="363016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Settings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473184" y="4050792"/>
            <a:ext cx="1783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 Prompt 与隐私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· AI 辅助学习系统案例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0140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隐私策略：默认本地，按需联网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教育场景里，这页能引出“AI 产品的数据边界设计”。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2926080" cy="3566160"/>
          </a:xfrm>
          <a:prstGeom prst="rect">
            <a:avLst/>
          </a:prstGeom>
          <a:solidFill>
            <a:srgbClr val="EFFF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600200"/>
            <a:ext cx="2926080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1600200"/>
            <a:ext cx="2926080" cy="3566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194560"/>
            <a:ext cx="1234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22A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600200" y="276148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保存核心数据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40680" y="2194560"/>
            <a:ext cx="1234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349240" y="276148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窗口标题可关闭发送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89720" y="2194560"/>
            <a:ext cx="1234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97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可换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098280" y="2761488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与 MCP 解耦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34440" y="5440680"/>
            <a:ext cx="9784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这不是“拒绝云端”，而是让用户知道哪些数据在哪里、什么时候被发送、由谁确认。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· AI 辅助学习系统案例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0140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演进路线：每次迭代补齐一个能力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项目从可运行骨架开始，一步步补齐数据、AI、确认流和可维护性。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9264" y="2514600"/>
            <a:ext cx="502920" cy="5029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679192"/>
            <a:ext cx="9144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23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v0.1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1499616" y="2761488"/>
            <a:ext cx="658368" cy="0"/>
          </a:xfrm>
          <a:prstGeom prst="line">
            <a:avLst/>
          </a:prstGeom>
          <a:noFill/>
          <a:ln w="1397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49224" y="3246120"/>
            <a:ext cx="114300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本地骨架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2569464" y="2514600"/>
            <a:ext cx="502920" cy="5029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2679192"/>
            <a:ext cx="9144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23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v0.2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099816" y="2761488"/>
            <a:ext cx="658368" cy="0"/>
          </a:xfrm>
          <a:prstGeom prst="line">
            <a:avLst/>
          </a:prstGeom>
          <a:noFill/>
          <a:ln w="1397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249424" y="3246120"/>
            <a:ext cx="114300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ActivityWatch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169664" y="2514600"/>
            <a:ext cx="502920" cy="5029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9352" y="2679192"/>
            <a:ext cx="9144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23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v0.3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4700016" y="2761488"/>
            <a:ext cx="658368" cy="0"/>
          </a:xfrm>
          <a:prstGeom prst="line">
            <a:avLst/>
          </a:prstGeom>
          <a:noFill/>
          <a:ln w="1397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849624" y="3246120"/>
            <a:ext cx="114300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日志/任务/日程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769864" y="2514600"/>
            <a:ext cx="502920" cy="5029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2679192"/>
            <a:ext cx="9144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23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v0.4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300216" y="2761488"/>
            <a:ext cx="658368" cy="0"/>
          </a:xfrm>
          <a:prstGeom prst="line">
            <a:avLst/>
          </a:prstGeom>
          <a:noFill/>
          <a:ln w="1397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449824" y="3246120"/>
            <a:ext cx="114300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总结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370064" y="2514600"/>
            <a:ext cx="502920" cy="5029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2679192"/>
            <a:ext cx="9144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23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v0.5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7900416" y="2761488"/>
            <a:ext cx="658368" cy="0"/>
          </a:xfrm>
          <a:prstGeom prst="line">
            <a:avLst/>
          </a:prstGeom>
          <a:noFill/>
          <a:ln w="1397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050024" y="3246120"/>
            <a:ext cx="114300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任务/MCP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970264" y="2514600"/>
            <a:ext cx="502920" cy="5029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9952" y="2679192"/>
            <a:ext cx="9144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23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v0.6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9500616" y="2761488"/>
            <a:ext cx="658368" cy="0"/>
          </a:xfrm>
          <a:prstGeom prst="line">
            <a:avLst/>
          </a:prstGeom>
          <a:noFill/>
          <a:ln w="13970">
            <a:solidFill>
              <a:srgbClr val="D8DEE6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650224" y="3246120"/>
            <a:ext cx="114300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确认流/里程碑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10570464" y="2514600"/>
            <a:ext cx="502920" cy="502920"/>
          </a:xfrm>
          <a:prstGeom prst="ellipse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60152" y="2679192"/>
            <a:ext cx="9144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10250424" y="3246120"/>
            <a:ext cx="114300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Markdown/双 Prompt/迁移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1051560" y="4800600"/>
            <a:ext cx="9875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1560" y="4800600"/>
            <a:ext cx="73152" cy="685800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71016" y="5001768"/>
            <a:ext cx="9464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下一步扩展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271016" y="5394960"/>
            <a:ext cx="9464040" cy="-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周复盘、日历视图、周/月报告、任务依赖、开源安装体验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· AI 辅助学习系统案例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0140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教学方案：一节课怎么讲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建议把项目讲成“从需求到 AI 工作流”的完整案例。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987552" cy="310896"/>
          </a:xfrm>
          <a:prstGeom prst="roundRect">
            <a:avLst>
              <a:gd name="adj" fmla="val 17647"/>
            </a:avLst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81912"/>
            <a:ext cx="9875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224028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痛点建模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34840" y="1554480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为什么学习数据需要结构化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313432"/>
            <a:ext cx="987552" cy="310896"/>
          </a:xfrm>
          <a:prstGeom prst="roundRect">
            <a:avLst>
              <a:gd name="adj" fmla="val 17647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86584"/>
            <a:ext cx="9875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min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2240280" y="2340864"/>
            <a:ext cx="1828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架构拆解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2359152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前端、后端、数据库、外部服务边界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3118104"/>
            <a:ext cx="987552" cy="310896"/>
          </a:xfrm>
          <a:prstGeom prst="roundRect">
            <a:avLst>
              <a:gd name="adj" fmla="val 17647"/>
            </a:avLst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91256"/>
            <a:ext cx="9875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min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2240280" y="3145536"/>
            <a:ext cx="1828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数据流推演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316382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Record 如何成为 AI 上下文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3922776"/>
            <a:ext cx="987552" cy="310896"/>
          </a:xfrm>
          <a:prstGeom prst="roundRect">
            <a:avLst>
              <a:gd name="adj" fmla="val 17647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95928"/>
            <a:ext cx="9875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min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240280" y="3950208"/>
            <a:ext cx="1828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工程化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3968496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Prompt、JSON 输出、用户确认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987552" cy="310896"/>
          </a:xfrm>
          <a:prstGeom prst="roundRect">
            <a:avLst>
              <a:gd name="adj" fmla="val 17647"/>
            </a:avLst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00600"/>
            <a:ext cx="9875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min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2240280" y="4754880"/>
            <a:ext cx="1828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34840" y="4773168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让学生设计周报或日历模块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· AI 辅助学习系统案例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0140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E"/>
          </a:solidFill>
          <a:ln w="12700">
            <a:solidFill>
              <a:srgbClr val="1A25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-548640"/>
            <a:ext cx="2286000" cy="22860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4754880"/>
            <a:ext cx="1463040" cy="1463040"/>
          </a:xfrm>
          <a:prstGeom prst="ellipse">
            <a:avLst/>
          </a:prstGeom>
          <a:solidFill>
            <a:srgbClr val="FFE4DE"/>
          </a:solidFill>
          <a:ln w="12700">
            <a:solidFill>
              <a:srgbClr val="FF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38912"/>
            <a:ext cx="7132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结论：这是一个适合教学的 AI 应用原型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85800" y="1024128"/>
            <a:ext cx="9784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D7E4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它把 AI 放进可解释、可确认、可迭代的学习管理流程。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874520"/>
            <a:ext cx="73152" cy="13258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产品价值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33856" y="2468880"/>
            <a:ext cx="192024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学习数据沉淀成长期可复盘记录。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11880" y="187452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1874520"/>
            <a:ext cx="73152" cy="1325880"/>
          </a:xfrm>
          <a:prstGeom prst="rect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技术价值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831336" y="2468880"/>
            <a:ext cx="192024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展示本地优先、分层架构和服务集成。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87452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874520"/>
            <a:ext cx="73152" cy="1325880"/>
          </a:xfrm>
          <a:prstGeom prst="rect">
            <a:avLst/>
          </a:prstGeom>
          <a:solidFill>
            <a:srgbClr val="F9735B"/>
          </a:solidFill>
          <a:ln w="12700">
            <a:solidFill>
              <a:srgbClr val="F973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价值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28816" y="2468880"/>
            <a:ext cx="192024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从聊天式建议升级为结构化工作流。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6840" y="187452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06840" y="18745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6296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教育价值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26296" y="2468880"/>
            <a:ext cx="192024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把“AI 应用如何落地”讲得具体。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4983480"/>
            <a:ext cx="99669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推荐定位：AI 辅助学习系统的课堂案例 + 本地优先应用原型。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StudyPulse · AI 辅助学习系统案例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BFD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StudyPulse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StudyPulse 教育介绍 v2</dc:title>
  <dc:subject>StudyPulse 教育介绍与系统设计</dc:subject>
  <dc:creator>Codex</dc:creator>
  <cp:lastModifiedBy>Codex</cp:lastModifiedBy>
  <cp:revision>1</cp:revision>
  <dcterms:created xsi:type="dcterms:W3CDTF">2026-07-11T15:29:42Z</dcterms:created>
  <dcterms:modified xsi:type="dcterms:W3CDTF">2026-07-11T15:29:42Z</dcterms:modified>
</cp:coreProperties>
</file>